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handoutMasterIdLst>
    <p:handoutMasterId r:id="rId6"/>
  </p:handoutMasterIdLst>
  <p:sldIdLst>
    <p:sldId id="260" r:id="rId5"/>
  </p:sldIdLst>
  <p:sldSz cx="38404800" cy="32918400"/>
  <p:notesSz cx="6881813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CE63B"/>
    <a:srgbClr val="FCE533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71026B-34DD-006A-66B2-3FD284AF3E5C}" v="217" dt="2024-05-06T17:35:44.371"/>
    <p1510:client id="{63ECDC06-C728-4646-9438-0C04ED707ED3}" v="1675" dt="2024-05-06T19:33:18.5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03"/>
  </p:normalViewPr>
  <p:slideViewPr>
    <p:cSldViewPr snapToGrid="0">
      <p:cViewPr varScale="1">
        <p:scale>
          <a:sx n="21" d="100"/>
          <a:sy n="21" d="100"/>
        </p:scale>
        <p:origin x="232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FB987E-A2C9-433D-859A-EF76A4CADD7D}" type="datetimeFigureOut">
              <a:rPr lang="en-US" smtClean="0"/>
              <a:t>5/8/24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7313" y="8829675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893146-5ACB-4622-A710-A1D44EA8B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3542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80360" y="5387342"/>
            <a:ext cx="32644080" cy="11460480"/>
          </a:xfrm>
        </p:spPr>
        <p:txBody>
          <a:bodyPr anchor="b"/>
          <a:lstStyle>
            <a:lvl1pPr algn="ctr">
              <a:defRPr sz="25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17289782"/>
            <a:ext cx="28803600" cy="7947658"/>
          </a:xfrm>
        </p:spPr>
        <p:txBody>
          <a:bodyPr/>
          <a:lstStyle>
            <a:lvl1pPr marL="0" indent="0" algn="ctr">
              <a:buNone/>
              <a:defRPr sz="10080"/>
            </a:lvl1pPr>
            <a:lvl2pPr marL="1920240" indent="0" algn="ctr">
              <a:buNone/>
              <a:defRPr sz="8400"/>
            </a:lvl2pPr>
            <a:lvl3pPr marL="3840480" indent="0" algn="ctr">
              <a:buNone/>
              <a:defRPr sz="7560"/>
            </a:lvl3pPr>
            <a:lvl4pPr marL="5760720" indent="0" algn="ctr">
              <a:buNone/>
              <a:defRPr sz="6720"/>
            </a:lvl4pPr>
            <a:lvl5pPr marL="7680960" indent="0" algn="ctr">
              <a:buNone/>
              <a:defRPr sz="6720"/>
            </a:lvl5pPr>
            <a:lvl6pPr marL="9601200" indent="0" algn="ctr">
              <a:buNone/>
              <a:defRPr sz="6720"/>
            </a:lvl6pPr>
            <a:lvl7pPr marL="11521440" indent="0" algn="ctr">
              <a:buNone/>
              <a:defRPr sz="6720"/>
            </a:lvl7pPr>
            <a:lvl8pPr marL="13441680" indent="0" algn="ctr">
              <a:buNone/>
              <a:defRPr sz="6720"/>
            </a:lvl8pPr>
            <a:lvl9pPr marL="15361920" indent="0" algn="ctr">
              <a:buNone/>
              <a:defRPr sz="67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051ED-2BE5-4A4C-B892-191C7A738C10}" type="datetimeFigureOut">
              <a:rPr lang="en-US" smtClean="0"/>
              <a:t>5/8/24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4CD70-656C-4E73-8E82-97EA37F181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05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051ED-2BE5-4A4C-B892-191C7A738C10}" type="datetimeFigureOut">
              <a:rPr lang="en-US" smtClean="0"/>
              <a:t>5/8/24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4CD70-656C-4E73-8E82-97EA37F181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246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0330" y="8206749"/>
            <a:ext cx="33124140" cy="13693138"/>
          </a:xfrm>
        </p:spPr>
        <p:txBody>
          <a:bodyPr anchor="b"/>
          <a:lstStyle>
            <a:lvl1pPr>
              <a:defRPr sz="25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20330" y="22029429"/>
            <a:ext cx="33124140" cy="7200898"/>
          </a:xfrm>
        </p:spPr>
        <p:txBody>
          <a:bodyPr/>
          <a:lstStyle>
            <a:lvl1pPr marL="0" indent="0">
              <a:buNone/>
              <a:defRPr sz="10080">
                <a:solidFill>
                  <a:schemeClr val="tx1"/>
                </a:solidFill>
              </a:defRPr>
            </a:lvl1pPr>
            <a:lvl2pPr marL="1920240" indent="0">
              <a:buNone/>
              <a:defRPr sz="8400">
                <a:solidFill>
                  <a:schemeClr val="tx1">
                    <a:tint val="75000"/>
                  </a:schemeClr>
                </a:solidFill>
              </a:defRPr>
            </a:lvl2pPr>
            <a:lvl3pPr marL="3840480" indent="0">
              <a:buNone/>
              <a:defRPr sz="7560">
                <a:solidFill>
                  <a:schemeClr val="tx1">
                    <a:tint val="75000"/>
                  </a:schemeClr>
                </a:solidFill>
              </a:defRPr>
            </a:lvl3pPr>
            <a:lvl4pPr marL="576072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4pPr>
            <a:lvl5pPr marL="768096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5pPr>
            <a:lvl6pPr marL="960120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6pPr>
            <a:lvl7pPr marL="1152144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7pPr>
            <a:lvl8pPr marL="134416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8pPr>
            <a:lvl9pPr marL="1536192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051ED-2BE5-4A4C-B892-191C7A738C10}" type="datetimeFigureOut">
              <a:rPr lang="en-US" smtClean="0"/>
              <a:t>5/8/24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4CD70-656C-4E73-8E82-97EA37F181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219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40330" y="8763000"/>
            <a:ext cx="1632204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42430" y="8763000"/>
            <a:ext cx="1632204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051ED-2BE5-4A4C-B892-191C7A738C10}" type="datetimeFigureOut">
              <a:rPr lang="en-US" smtClean="0"/>
              <a:t>5/8/24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4CD70-656C-4E73-8E82-97EA37F181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523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5332" y="1752607"/>
            <a:ext cx="33124140" cy="6362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5336" y="8069582"/>
            <a:ext cx="16247028" cy="3954778"/>
          </a:xfrm>
        </p:spPr>
        <p:txBody>
          <a:bodyPr anchor="b"/>
          <a:lstStyle>
            <a:lvl1pPr marL="0" indent="0">
              <a:buNone/>
              <a:defRPr sz="10080" b="1"/>
            </a:lvl1pPr>
            <a:lvl2pPr marL="1920240" indent="0">
              <a:buNone/>
              <a:defRPr sz="8400" b="1"/>
            </a:lvl2pPr>
            <a:lvl3pPr marL="3840480" indent="0">
              <a:buNone/>
              <a:defRPr sz="7560" b="1"/>
            </a:lvl3pPr>
            <a:lvl4pPr marL="5760720" indent="0">
              <a:buNone/>
              <a:defRPr sz="6720" b="1"/>
            </a:lvl4pPr>
            <a:lvl5pPr marL="7680960" indent="0">
              <a:buNone/>
              <a:defRPr sz="6720" b="1"/>
            </a:lvl5pPr>
            <a:lvl6pPr marL="9601200" indent="0">
              <a:buNone/>
              <a:defRPr sz="6720" b="1"/>
            </a:lvl6pPr>
            <a:lvl7pPr marL="11521440" indent="0">
              <a:buNone/>
              <a:defRPr sz="6720" b="1"/>
            </a:lvl7pPr>
            <a:lvl8pPr marL="13441680" indent="0">
              <a:buNone/>
              <a:defRPr sz="6720" b="1"/>
            </a:lvl8pPr>
            <a:lvl9pPr marL="15361920" indent="0">
              <a:buNone/>
              <a:defRPr sz="67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45336" y="12024360"/>
            <a:ext cx="16247028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9442432" y="8069582"/>
            <a:ext cx="16327042" cy="3954778"/>
          </a:xfrm>
        </p:spPr>
        <p:txBody>
          <a:bodyPr anchor="b"/>
          <a:lstStyle>
            <a:lvl1pPr marL="0" indent="0">
              <a:buNone/>
              <a:defRPr sz="10080" b="1"/>
            </a:lvl1pPr>
            <a:lvl2pPr marL="1920240" indent="0">
              <a:buNone/>
              <a:defRPr sz="8400" b="1"/>
            </a:lvl2pPr>
            <a:lvl3pPr marL="3840480" indent="0">
              <a:buNone/>
              <a:defRPr sz="7560" b="1"/>
            </a:lvl3pPr>
            <a:lvl4pPr marL="5760720" indent="0">
              <a:buNone/>
              <a:defRPr sz="6720" b="1"/>
            </a:lvl4pPr>
            <a:lvl5pPr marL="7680960" indent="0">
              <a:buNone/>
              <a:defRPr sz="6720" b="1"/>
            </a:lvl5pPr>
            <a:lvl6pPr marL="9601200" indent="0">
              <a:buNone/>
              <a:defRPr sz="6720" b="1"/>
            </a:lvl6pPr>
            <a:lvl7pPr marL="11521440" indent="0">
              <a:buNone/>
              <a:defRPr sz="6720" b="1"/>
            </a:lvl7pPr>
            <a:lvl8pPr marL="13441680" indent="0">
              <a:buNone/>
              <a:defRPr sz="6720" b="1"/>
            </a:lvl8pPr>
            <a:lvl9pPr marL="15361920" indent="0">
              <a:buNone/>
              <a:defRPr sz="67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9442432" y="12024360"/>
            <a:ext cx="1632704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051ED-2BE5-4A4C-B892-191C7A738C10}" type="datetimeFigureOut">
              <a:rPr lang="en-US" smtClean="0"/>
              <a:t>5/8/24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4CD70-656C-4E73-8E82-97EA37F181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461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051ED-2BE5-4A4C-B892-191C7A738C10}" type="datetimeFigureOut">
              <a:rPr lang="en-US" smtClean="0"/>
              <a:t>5/8/24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4CD70-656C-4E73-8E82-97EA37F181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801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051ED-2BE5-4A4C-B892-191C7A738C10}" type="datetimeFigureOut">
              <a:rPr lang="en-US" smtClean="0"/>
              <a:t>5/8/24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4CD70-656C-4E73-8E82-97EA37F181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09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5332" y="2194560"/>
            <a:ext cx="12386548" cy="7680960"/>
          </a:xfrm>
        </p:spPr>
        <p:txBody>
          <a:bodyPr anchor="b"/>
          <a:lstStyle>
            <a:lvl1pPr>
              <a:defRPr sz="134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27042" y="4739647"/>
            <a:ext cx="19442430" cy="23393400"/>
          </a:xfrm>
        </p:spPr>
        <p:txBody>
          <a:bodyPr/>
          <a:lstStyle>
            <a:lvl1pPr>
              <a:defRPr sz="13440"/>
            </a:lvl1pPr>
            <a:lvl2pPr>
              <a:defRPr sz="11760"/>
            </a:lvl2pPr>
            <a:lvl3pPr>
              <a:defRPr sz="10080"/>
            </a:lvl3pPr>
            <a:lvl4pPr>
              <a:defRPr sz="8400"/>
            </a:lvl4pPr>
            <a:lvl5pPr>
              <a:defRPr sz="8400"/>
            </a:lvl5pPr>
            <a:lvl6pPr>
              <a:defRPr sz="8400"/>
            </a:lvl6pPr>
            <a:lvl7pPr>
              <a:defRPr sz="8400"/>
            </a:lvl7pPr>
            <a:lvl8pPr>
              <a:defRPr sz="8400"/>
            </a:lvl8pPr>
            <a:lvl9pPr>
              <a:defRPr sz="8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45332" y="9875520"/>
            <a:ext cx="12386548" cy="18295622"/>
          </a:xfrm>
        </p:spPr>
        <p:txBody>
          <a:bodyPr/>
          <a:lstStyle>
            <a:lvl1pPr marL="0" indent="0">
              <a:buNone/>
              <a:defRPr sz="6720"/>
            </a:lvl1pPr>
            <a:lvl2pPr marL="1920240" indent="0">
              <a:buNone/>
              <a:defRPr sz="5880"/>
            </a:lvl2pPr>
            <a:lvl3pPr marL="3840480" indent="0">
              <a:buNone/>
              <a:defRPr sz="5040"/>
            </a:lvl3pPr>
            <a:lvl4pPr marL="5760720" indent="0">
              <a:buNone/>
              <a:defRPr sz="4200"/>
            </a:lvl4pPr>
            <a:lvl5pPr marL="7680960" indent="0">
              <a:buNone/>
              <a:defRPr sz="4200"/>
            </a:lvl5pPr>
            <a:lvl6pPr marL="9601200" indent="0">
              <a:buNone/>
              <a:defRPr sz="4200"/>
            </a:lvl6pPr>
            <a:lvl7pPr marL="11521440" indent="0">
              <a:buNone/>
              <a:defRPr sz="4200"/>
            </a:lvl7pPr>
            <a:lvl8pPr marL="13441680" indent="0">
              <a:buNone/>
              <a:defRPr sz="4200"/>
            </a:lvl8pPr>
            <a:lvl9pPr marL="15361920" indent="0">
              <a:buNone/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051ED-2BE5-4A4C-B892-191C7A738C10}" type="datetimeFigureOut">
              <a:rPr lang="en-US" smtClean="0"/>
              <a:t>5/8/24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4CD70-656C-4E73-8E82-97EA37F181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537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5332" y="2194560"/>
            <a:ext cx="12386548" cy="7680960"/>
          </a:xfrm>
        </p:spPr>
        <p:txBody>
          <a:bodyPr anchor="b"/>
          <a:lstStyle>
            <a:lvl1pPr>
              <a:defRPr sz="134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327042" y="4739647"/>
            <a:ext cx="19442430" cy="23393400"/>
          </a:xfrm>
        </p:spPr>
        <p:txBody>
          <a:bodyPr anchor="t"/>
          <a:lstStyle>
            <a:lvl1pPr marL="0" indent="0">
              <a:buNone/>
              <a:defRPr sz="13440"/>
            </a:lvl1pPr>
            <a:lvl2pPr marL="1920240" indent="0">
              <a:buNone/>
              <a:defRPr sz="11760"/>
            </a:lvl2pPr>
            <a:lvl3pPr marL="3840480" indent="0">
              <a:buNone/>
              <a:defRPr sz="10080"/>
            </a:lvl3pPr>
            <a:lvl4pPr marL="5760720" indent="0">
              <a:buNone/>
              <a:defRPr sz="8400"/>
            </a:lvl4pPr>
            <a:lvl5pPr marL="7680960" indent="0">
              <a:buNone/>
              <a:defRPr sz="8400"/>
            </a:lvl5pPr>
            <a:lvl6pPr marL="9601200" indent="0">
              <a:buNone/>
              <a:defRPr sz="8400"/>
            </a:lvl6pPr>
            <a:lvl7pPr marL="11521440" indent="0">
              <a:buNone/>
              <a:defRPr sz="8400"/>
            </a:lvl7pPr>
            <a:lvl8pPr marL="13441680" indent="0">
              <a:buNone/>
              <a:defRPr sz="8400"/>
            </a:lvl8pPr>
            <a:lvl9pPr marL="15361920" indent="0">
              <a:buNone/>
              <a:defRPr sz="84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45332" y="9875520"/>
            <a:ext cx="12386548" cy="18295622"/>
          </a:xfrm>
        </p:spPr>
        <p:txBody>
          <a:bodyPr/>
          <a:lstStyle>
            <a:lvl1pPr marL="0" indent="0">
              <a:buNone/>
              <a:defRPr sz="6720"/>
            </a:lvl1pPr>
            <a:lvl2pPr marL="1920240" indent="0">
              <a:buNone/>
              <a:defRPr sz="5880"/>
            </a:lvl2pPr>
            <a:lvl3pPr marL="3840480" indent="0">
              <a:buNone/>
              <a:defRPr sz="5040"/>
            </a:lvl3pPr>
            <a:lvl4pPr marL="5760720" indent="0">
              <a:buNone/>
              <a:defRPr sz="4200"/>
            </a:lvl4pPr>
            <a:lvl5pPr marL="7680960" indent="0">
              <a:buNone/>
              <a:defRPr sz="4200"/>
            </a:lvl5pPr>
            <a:lvl6pPr marL="9601200" indent="0">
              <a:buNone/>
              <a:defRPr sz="4200"/>
            </a:lvl6pPr>
            <a:lvl7pPr marL="11521440" indent="0">
              <a:buNone/>
              <a:defRPr sz="4200"/>
            </a:lvl7pPr>
            <a:lvl8pPr marL="13441680" indent="0">
              <a:buNone/>
              <a:defRPr sz="4200"/>
            </a:lvl8pPr>
            <a:lvl9pPr marL="15361920" indent="0">
              <a:buNone/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051ED-2BE5-4A4C-B892-191C7A738C10}" type="datetimeFigureOut">
              <a:rPr lang="en-US" smtClean="0"/>
              <a:t>5/8/24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4CD70-656C-4E73-8E82-97EA37F181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952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051ED-2BE5-4A4C-B892-191C7A738C10}" type="datetimeFigureOut">
              <a:rPr lang="en-US" smtClean="0"/>
              <a:t>5/8/24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4CD70-656C-4E73-8E82-97EA37F181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851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7483437" y="1752600"/>
            <a:ext cx="8281035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40332" y="1752600"/>
            <a:ext cx="24363045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051ED-2BE5-4A4C-B892-191C7A738C10}" type="datetimeFigureOut">
              <a:rPr lang="en-US" smtClean="0"/>
              <a:t>5/8/24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4CD70-656C-4E73-8E82-97EA37F181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084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40330" y="1752607"/>
            <a:ext cx="3312414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0330" y="8763000"/>
            <a:ext cx="3312414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40330" y="30510487"/>
            <a:ext cx="86410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6051ED-2BE5-4A4C-B892-191C7A738C10}" type="datetimeFigureOut">
              <a:rPr lang="en-US" smtClean="0"/>
              <a:t>5/8/24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721590" y="30510487"/>
            <a:ext cx="129616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123390" y="30510487"/>
            <a:ext cx="86410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74CD70-656C-4E73-8E82-97EA37F181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15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840480" rtl="0" eaLnBrk="1" latinLnBrk="0" hangingPunct="1">
        <a:lnSpc>
          <a:spcPct val="90000"/>
        </a:lnSpc>
        <a:spcBef>
          <a:spcPct val="0"/>
        </a:spcBef>
        <a:buNone/>
        <a:defRPr sz="184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0120" indent="-960120" algn="l" defTabSz="3840480" rtl="0" eaLnBrk="1" latinLnBrk="0" hangingPunct="1">
        <a:lnSpc>
          <a:spcPct val="90000"/>
        </a:lnSpc>
        <a:spcBef>
          <a:spcPts val="4200"/>
        </a:spcBef>
        <a:buFont typeface="Arial" panose="020B0604020202020204" pitchFamily="34" charset="0"/>
        <a:buChar char="•"/>
        <a:defRPr sz="11760" kern="1200">
          <a:solidFill>
            <a:schemeClr val="tx1"/>
          </a:solidFill>
          <a:latin typeface="+mn-lt"/>
          <a:ea typeface="+mn-ea"/>
          <a:cs typeface="+mn-cs"/>
        </a:defRPr>
      </a:lvl1pPr>
      <a:lvl2pPr marL="288036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3pPr>
      <a:lvl4pPr marL="672084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5pPr>
      <a:lvl6pPr marL="1056132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6pPr>
      <a:lvl7pPr marL="1248156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7pPr>
      <a:lvl8pPr marL="1440180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8pPr>
      <a:lvl9pPr marL="1632204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1pPr>
      <a:lvl2pPr marL="192024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2pPr>
      <a:lvl3pPr marL="384048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4pPr>
      <a:lvl5pPr marL="768096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5pPr>
      <a:lvl6pPr marL="960120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6pPr>
      <a:lvl7pPr marL="1152144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7pPr>
      <a:lvl8pPr marL="1344168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8pPr>
      <a:lvl9pPr marL="1536192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6C99A3C-EA6A-414C-BCD9-2E4A8F69DA38}"/>
              </a:ext>
            </a:extLst>
          </p:cNvPr>
          <p:cNvSpPr/>
          <p:nvPr/>
        </p:nvSpPr>
        <p:spPr>
          <a:xfrm>
            <a:off x="637257" y="514876"/>
            <a:ext cx="27940485" cy="56927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962"/>
          </a:p>
        </p:txBody>
      </p:sp>
      <p:sp>
        <p:nvSpPr>
          <p:cNvPr id="2" name="TextBox 1"/>
          <p:cNvSpPr txBox="1"/>
          <p:nvPr/>
        </p:nvSpPr>
        <p:spPr>
          <a:xfrm>
            <a:off x="1969030" y="490355"/>
            <a:ext cx="24312218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9600" b="1"/>
              <a:t>Solar Powered Minto Wheel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92178" y="2245396"/>
            <a:ext cx="22792803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5400"/>
              <a:t>Nate DeLong, Megan Bost, Davis Clemmons, Grayson Bush</a:t>
            </a:r>
          </a:p>
        </p:txBody>
      </p:sp>
      <p:cxnSp>
        <p:nvCxnSpPr>
          <p:cNvPr id="8" name="Straight Connector 7"/>
          <p:cNvCxnSpPr>
            <a:cxnSpLocks/>
          </p:cNvCxnSpPr>
          <p:nvPr/>
        </p:nvCxnSpPr>
        <p:spPr>
          <a:xfrm flipH="1">
            <a:off x="25848461" y="4961106"/>
            <a:ext cx="181576" cy="26992094"/>
          </a:xfrm>
          <a:prstGeom prst="line">
            <a:avLst/>
          </a:prstGeom>
          <a:ln w="1206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cxnSpLocks/>
          </p:cNvCxnSpPr>
          <p:nvPr/>
        </p:nvCxnSpPr>
        <p:spPr>
          <a:xfrm>
            <a:off x="12350939" y="4961106"/>
            <a:ext cx="0" cy="26992094"/>
          </a:xfrm>
          <a:prstGeom prst="line">
            <a:avLst/>
          </a:prstGeom>
          <a:ln w="1206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992178" y="3401990"/>
            <a:ext cx="228170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/>
              <a:t>Randolph-Macon College Department of Physics, Engineering, and Astrophysics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532515" y="4948086"/>
            <a:ext cx="13315946" cy="6492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800"/>
              <a:t>Experiments</a:t>
            </a:r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80325" y="4961106"/>
            <a:ext cx="11512296" cy="64694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800"/>
              <a:t>Objective</a:t>
            </a:r>
            <a:endParaRPr lang="en-US" sz="5400">
              <a:cs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15920" y="18790360"/>
            <a:ext cx="11468101" cy="6492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800"/>
              <a:t>Prototype Model Development</a:t>
            </a:r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26155367" y="23229646"/>
            <a:ext cx="11512296" cy="64696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800"/>
              <a:t>Conclusion</a:t>
            </a:r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6128351" y="29150400"/>
            <a:ext cx="11512296" cy="64882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800"/>
              <a:t>Acknowledgements</a:t>
            </a:r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55151" y="5611034"/>
            <a:ext cx="11519390" cy="34122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sz="4000">
                <a:solidFill>
                  <a:schemeClr val="tx1"/>
                </a:solidFill>
              </a:rPr>
              <a:t>Create a Minto wheel constructed out of low-cost materials that uses solar power to heat gas tanks and generate torque.</a:t>
            </a:r>
          </a:p>
          <a:p>
            <a:pPr algn="ctr"/>
            <a:endParaRPr lang="en-US" sz="2000">
              <a:solidFill>
                <a:schemeClr val="tx1"/>
              </a:solidFill>
              <a:ea typeface="Calibri"/>
              <a:cs typeface="Calibri"/>
            </a:endParaRPr>
          </a:p>
          <a:p>
            <a:pPr algn="ctr"/>
            <a:r>
              <a:rPr lang="en-US" sz="4000" b="1">
                <a:solidFill>
                  <a:schemeClr val="tx1"/>
                </a:solidFill>
                <a:ea typeface="Calibri"/>
                <a:cs typeface="Calibri"/>
              </a:rPr>
              <a:t>How does it work?</a:t>
            </a:r>
            <a:endParaRPr lang="en-US" sz="400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2456294" y="5570163"/>
            <a:ext cx="13398271" cy="262639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sz="4000" b="1">
                <a:solidFill>
                  <a:schemeClr val="tx1"/>
                </a:solidFill>
              </a:rPr>
              <a:t>Experiment 1</a:t>
            </a:r>
            <a:endParaRPr lang="en-US">
              <a:solidFill>
                <a:schemeClr val="tx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>
                <a:solidFill>
                  <a:schemeClr val="tx1"/>
                </a:solidFill>
                <a:ea typeface="Calibri"/>
                <a:cs typeface="Calibri"/>
              </a:rPr>
              <a:t>Ran a SolidWorks FEA simulation to test propane tank capabilities under heated conditions, (Figure 3).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>
                <a:solidFill>
                  <a:schemeClr val="tx1"/>
                </a:solidFill>
                <a:ea typeface="Calibri"/>
                <a:cs typeface="Calibri"/>
              </a:rPr>
              <a:t>Per ASME Section VIII code, a Factor of Safety of 3 is required for use of a pressure vessel of this kind. </a:t>
            </a:r>
            <a:endParaRPr lang="en-US">
              <a:solidFill>
                <a:schemeClr val="tx1"/>
              </a:solidFill>
              <a:cs typeface="Calibri" panose="020F0502020204030204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>
                <a:solidFill>
                  <a:schemeClr val="tx1"/>
                </a:solidFill>
                <a:ea typeface="Calibri"/>
                <a:cs typeface="Calibri"/>
              </a:rPr>
              <a:t>The FOS , yield strength, and max stress was calculated using a max pressure of 200 psi, (Table 1).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4000">
              <a:solidFill>
                <a:schemeClr val="tx1"/>
              </a:solidFill>
              <a:ea typeface="Calibri"/>
              <a:cs typeface="Calibri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4000">
              <a:solidFill>
                <a:schemeClr val="tx1"/>
              </a:solidFill>
              <a:ea typeface="Calibri"/>
              <a:cs typeface="Calibri"/>
            </a:endParaRPr>
          </a:p>
          <a:p>
            <a:pPr algn="just"/>
            <a:endParaRPr lang="en-US" sz="4000" b="1">
              <a:solidFill>
                <a:schemeClr val="tx1"/>
              </a:solidFill>
            </a:endParaRPr>
          </a:p>
          <a:p>
            <a:pPr algn="just"/>
            <a:endParaRPr lang="en-US" sz="4000" b="1">
              <a:solidFill>
                <a:schemeClr val="tx1"/>
              </a:solidFill>
            </a:endParaRPr>
          </a:p>
          <a:p>
            <a:pPr algn="just"/>
            <a:endParaRPr lang="en-US" sz="4000" b="1">
              <a:solidFill>
                <a:schemeClr val="tx1"/>
              </a:solidFill>
            </a:endParaRPr>
          </a:p>
          <a:p>
            <a:pPr algn="just"/>
            <a:endParaRPr lang="en-US" sz="4000" b="1">
              <a:solidFill>
                <a:schemeClr val="tx1"/>
              </a:solidFill>
            </a:endParaRPr>
          </a:p>
          <a:p>
            <a:pPr algn="just"/>
            <a:endParaRPr lang="en-US" sz="4000" b="1">
              <a:solidFill>
                <a:schemeClr val="tx1"/>
              </a:solidFill>
            </a:endParaRPr>
          </a:p>
          <a:p>
            <a:pPr algn="just"/>
            <a:endParaRPr lang="en-US" sz="4000" b="1">
              <a:solidFill>
                <a:schemeClr val="tx1"/>
              </a:solidFill>
            </a:endParaRPr>
          </a:p>
          <a:p>
            <a:pPr algn="just"/>
            <a:endParaRPr lang="en-US" sz="4000" b="1">
              <a:solidFill>
                <a:schemeClr val="tx1"/>
              </a:solidFill>
            </a:endParaRPr>
          </a:p>
          <a:p>
            <a:pPr algn="just"/>
            <a:endParaRPr lang="en-US" sz="4000" b="1">
              <a:solidFill>
                <a:schemeClr val="tx1"/>
              </a:solidFill>
              <a:ea typeface="Calibri"/>
              <a:cs typeface="Calibri"/>
            </a:endParaRPr>
          </a:p>
          <a:p>
            <a:pPr algn="just"/>
            <a:endParaRPr lang="en-US" sz="4000" b="1">
              <a:solidFill>
                <a:schemeClr val="tx1"/>
              </a:solidFill>
            </a:endParaRPr>
          </a:p>
          <a:p>
            <a:pPr algn="just"/>
            <a:endParaRPr lang="en-US" sz="4000" b="1">
              <a:solidFill>
                <a:schemeClr val="tx1"/>
              </a:solidFill>
              <a:cs typeface="Calibri" panose="020F0502020204030204"/>
            </a:endParaRPr>
          </a:p>
          <a:p>
            <a:pPr algn="just"/>
            <a:endParaRPr lang="en-US" sz="4000" b="1">
              <a:solidFill>
                <a:schemeClr val="tx1"/>
              </a:solidFill>
            </a:endParaRPr>
          </a:p>
          <a:p>
            <a:pPr algn="just"/>
            <a:endParaRPr lang="en-US" sz="4000" b="1">
              <a:solidFill>
                <a:schemeClr val="tx1"/>
              </a:solidFill>
            </a:endParaRPr>
          </a:p>
          <a:p>
            <a:pPr algn="just"/>
            <a:endParaRPr lang="en-US" sz="3200" b="1">
              <a:solidFill>
                <a:schemeClr val="tx1"/>
              </a:solidFill>
              <a:ea typeface="Calibri"/>
              <a:cs typeface="Calibri"/>
            </a:endParaRPr>
          </a:p>
          <a:p>
            <a:pPr algn="just"/>
            <a:endParaRPr lang="en-US" sz="2000" b="1">
              <a:solidFill>
                <a:schemeClr val="tx1"/>
              </a:solidFill>
              <a:cs typeface="Calibri"/>
            </a:endParaRPr>
          </a:p>
          <a:p>
            <a:pPr algn="ctr"/>
            <a:r>
              <a:rPr lang="en-US" sz="4000" b="1">
                <a:solidFill>
                  <a:schemeClr val="tx1"/>
                </a:solidFill>
              </a:rPr>
              <a:t>Experiment 2</a:t>
            </a:r>
            <a:endParaRPr lang="en-US" sz="4000" b="1">
              <a:solidFill>
                <a:schemeClr val="tx1"/>
              </a:solidFill>
              <a:ea typeface="Calibri"/>
              <a:cs typeface="Calibri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>
                <a:solidFill>
                  <a:schemeClr val="tx1"/>
                </a:solidFill>
                <a:ea typeface="Calibri"/>
                <a:cs typeface="Calibri"/>
              </a:rPr>
              <a:t>Gas transfer experiment conducted to determine amount and rate of gas transfer between tanks at given temperature.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>
                <a:solidFill>
                  <a:schemeClr val="tx1"/>
                </a:solidFill>
                <a:ea typeface="Calibri"/>
                <a:cs typeface="Calibri"/>
              </a:rPr>
              <a:t>Data shows the results for the experiment at 120°F which was needed to produce significant transfer of gas, (Figure 4). 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>
                <a:solidFill>
                  <a:schemeClr val="tx1"/>
                </a:solidFill>
                <a:cs typeface="Calibri" panose="020F0502020204030204"/>
              </a:rPr>
              <a:t>Starting weights differ because the adapters on one tank were heavier than the other.</a:t>
            </a:r>
            <a:endParaRPr lang="en-US" sz="4000">
              <a:solidFill>
                <a:schemeClr val="tx1"/>
              </a:solidFill>
              <a:ea typeface="Calibri" panose="020F0502020204030204"/>
              <a:cs typeface="Calibri" panose="020F0502020204030204"/>
            </a:endParaRPr>
          </a:p>
          <a:p>
            <a:pPr marL="428625" indent="-428625" algn="just">
              <a:buFont typeface="Arial" panose="020B0604020202020204" pitchFamily="34" charset="0"/>
              <a:buChar char="•"/>
            </a:pPr>
            <a:endParaRPr lang="en-US" sz="400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algn="just"/>
            <a:endParaRPr lang="en-US" sz="40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6433220" y="29821418"/>
            <a:ext cx="11157847" cy="16964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28625" indent="-428625" algn="just">
              <a:buFont typeface="Arial" panose="020B0604020202020204" pitchFamily="34" charset="0"/>
              <a:buChar char="•"/>
            </a:pPr>
            <a:r>
              <a:rPr lang="en-US" sz="4000">
                <a:solidFill>
                  <a:schemeClr val="tx1"/>
                </a:solidFill>
              </a:rPr>
              <a:t>Randolph-Macon College Department of Physics, Engineering, and Astrophysics</a:t>
            </a:r>
          </a:p>
          <a:p>
            <a:pPr marL="428625" indent="-428625" algn="just">
              <a:buFont typeface="Arial" panose="020B0604020202020204" pitchFamily="34" charset="0"/>
              <a:buChar char="•"/>
            </a:pPr>
            <a:r>
              <a:rPr lang="en-US" sz="4000">
                <a:solidFill>
                  <a:schemeClr val="tx1"/>
                </a:solidFill>
              </a:rPr>
              <a:t>Professor James T. </a:t>
            </a:r>
            <a:r>
              <a:rPr lang="en-US" sz="4000" err="1">
                <a:solidFill>
                  <a:schemeClr val="tx1"/>
                </a:solidFill>
              </a:rPr>
              <a:t>McLeskey</a:t>
            </a:r>
            <a:r>
              <a:rPr lang="en-US" sz="4000">
                <a:solidFill>
                  <a:schemeClr val="tx1"/>
                </a:solidFill>
              </a:rPr>
              <a:t>, Jr.</a:t>
            </a:r>
          </a:p>
          <a:p>
            <a:pPr marL="428625" indent="-428625" algn="just">
              <a:buFont typeface="Arial" panose="020B0604020202020204" pitchFamily="34" charset="0"/>
              <a:buChar char="•"/>
            </a:pPr>
            <a:r>
              <a:rPr lang="en-US" sz="4000">
                <a:solidFill>
                  <a:schemeClr val="tx1"/>
                </a:solidFill>
              </a:rPr>
              <a:t>Professor Zachary E. Cullingsworth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321541" y="21732352"/>
            <a:ext cx="11092233" cy="50188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28625" indent="-428625" algn="just">
              <a:buFont typeface="Arial" panose="020B0604020202020204" pitchFamily="34" charset="0"/>
              <a:buChar char="•"/>
            </a:pPr>
            <a:endParaRPr lang="en-US" sz="4000">
              <a:solidFill>
                <a:schemeClr val="tx1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720922" y="15500687"/>
            <a:ext cx="11468101" cy="6492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800"/>
              <a:t>Motivation</a:t>
            </a:r>
            <a:endParaRPr lang="en-US" sz="5400">
              <a:cs typeface="Calibri" panose="020F050202020403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6225587" y="10652328"/>
            <a:ext cx="11512296" cy="65181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800"/>
              <a:t>Challenges</a:t>
            </a:r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26202732" y="11323925"/>
            <a:ext cx="11546714" cy="45096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4000">
                <a:solidFill>
                  <a:schemeClr val="tx1"/>
                </a:solidFill>
                <a:ea typeface="+mn-lt"/>
                <a:cs typeface="+mn-lt"/>
              </a:rPr>
              <a:t>Different adapters had to be connected together to fasten propane tanks to one another and leaks were contained using Teflon pipe tape on connections. </a:t>
            </a:r>
            <a:endParaRPr lang="en-US">
              <a:solidFill>
                <a:schemeClr val="tx1"/>
              </a:solidFill>
              <a:ea typeface="+mn-lt"/>
              <a:cs typeface="+mn-lt"/>
            </a:endParaRP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4000">
                <a:solidFill>
                  <a:schemeClr val="tx1"/>
                </a:solidFill>
                <a:ea typeface="Calibri"/>
                <a:cs typeface="Calibri"/>
              </a:rPr>
              <a:t>Additional submersible heaters were required to </a:t>
            </a:r>
          </a:p>
          <a:p>
            <a:r>
              <a:rPr lang="en-US" sz="4000">
                <a:solidFill>
                  <a:schemeClr val="tx1"/>
                </a:solidFill>
                <a:ea typeface="Calibri"/>
                <a:cs typeface="Calibri"/>
              </a:rPr>
              <a:t>    reach necessary temperature for the wheel to spin.</a:t>
            </a: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4000">
                <a:solidFill>
                  <a:schemeClr val="tx1"/>
                </a:solidFill>
                <a:ea typeface="Calibri"/>
                <a:cs typeface="Calibri"/>
              </a:rPr>
              <a:t>Rotation was not uniform because wheel speed does not allow the tanks following in rotation to heat up. 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956AA48-54B3-4E41-ACF3-8BCBC3A680E8}"/>
              </a:ext>
            </a:extLst>
          </p:cNvPr>
          <p:cNvSpPr/>
          <p:nvPr/>
        </p:nvSpPr>
        <p:spPr>
          <a:xfrm>
            <a:off x="26242037" y="4955348"/>
            <a:ext cx="11536672" cy="6492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800"/>
              <a:t>Results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E1394D-CF85-43AE-F001-F88F6A56DF56}"/>
              </a:ext>
            </a:extLst>
          </p:cNvPr>
          <p:cNvSpPr/>
          <p:nvPr/>
        </p:nvSpPr>
        <p:spPr>
          <a:xfrm>
            <a:off x="945685" y="12537472"/>
            <a:ext cx="11056324" cy="12305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428625" indent="-428625" algn="just">
              <a:buFont typeface="Arial" panose="020B0604020202020204" pitchFamily="34" charset="0"/>
              <a:buChar char="•"/>
            </a:pPr>
            <a:endParaRPr lang="en-US" sz="400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87F70D-D227-4081-9B67-2B21C937BEC7}"/>
              </a:ext>
            </a:extLst>
          </p:cNvPr>
          <p:cNvSpPr/>
          <p:nvPr/>
        </p:nvSpPr>
        <p:spPr>
          <a:xfrm>
            <a:off x="26141197" y="26590760"/>
            <a:ext cx="11512296" cy="65181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4800"/>
              <a:t>Future Research</a:t>
            </a:r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C250DA-9319-6FFC-EB46-1B87496F303C}"/>
              </a:ext>
            </a:extLst>
          </p:cNvPr>
          <p:cNvSpPr/>
          <p:nvPr/>
        </p:nvSpPr>
        <p:spPr>
          <a:xfrm>
            <a:off x="26141799" y="27236489"/>
            <a:ext cx="11506485" cy="16964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4000">
                <a:solidFill>
                  <a:schemeClr val="tx1"/>
                </a:solidFill>
              </a:rPr>
              <a:t>Find the exact temperature and resistance needed to make wheel revolutions uniform and constant.</a:t>
            </a:r>
            <a:endParaRPr lang="en-US">
              <a:solidFill>
                <a:schemeClr val="tx1"/>
              </a:solidFill>
              <a:cs typeface="Calibri" panose="020F0502020204030204"/>
            </a:endParaRP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4000">
                <a:solidFill>
                  <a:schemeClr val="tx1"/>
                </a:solidFill>
                <a:ea typeface="Calibri" panose="020F0502020204030204"/>
                <a:cs typeface="Calibri" panose="020F0502020204030204"/>
              </a:rPr>
              <a:t>Try to generate power using the wheel's torque.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AB51895-3AD0-1010-9D30-3D8C3D59DDA5}"/>
              </a:ext>
            </a:extLst>
          </p:cNvPr>
          <p:cNvSpPr/>
          <p:nvPr/>
        </p:nvSpPr>
        <p:spPr>
          <a:xfrm>
            <a:off x="26211303" y="23894925"/>
            <a:ext cx="11450544" cy="33358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4000">
                <a:solidFill>
                  <a:schemeClr val="tx1"/>
                </a:solidFill>
              </a:rPr>
              <a:t>Propane is an effective medium for operating this Minto wheel from solar power and is cost effective and an easily accessible material. </a:t>
            </a:r>
            <a:endParaRPr lang="en-US">
              <a:solidFill>
                <a:schemeClr val="tx1"/>
              </a:solidFill>
              <a:cs typeface="Calibri" panose="020F0502020204030204"/>
            </a:endParaRP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4000">
                <a:solidFill>
                  <a:schemeClr val="tx1"/>
                </a:solidFill>
              </a:rPr>
              <a:t>This wheel will run indefinitely with this system.</a:t>
            </a:r>
            <a:endParaRPr lang="en-US" sz="400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F068287-C40B-8EA3-F570-DAB7764F6FBF}"/>
              </a:ext>
            </a:extLst>
          </p:cNvPr>
          <p:cNvSpPr/>
          <p:nvPr/>
        </p:nvSpPr>
        <p:spPr>
          <a:xfrm>
            <a:off x="26196693" y="5575250"/>
            <a:ext cx="11551300" cy="57275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571500" indent="-571500">
              <a:buFont typeface="Arial"/>
              <a:buChar char="•"/>
            </a:pPr>
            <a:r>
              <a:rPr lang="en-US" sz="4000">
                <a:solidFill>
                  <a:schemeClr val="tx1"/>
                </a:solidFill>
                <a:cs typeface="Calibri"/>
              </a:rPr>
              <a:t>Propane causes the wheel to spin at a water temperature of 120</a:t>
            </a:r>
            <a:r>
              <a:rPr lang="en-US" sz="4000">
                <a:solidFill>
                  <a:schemeClr val="tx1"/>
                </a:solidFill>
                <a:ea typeface="+mn-lt"/>
                <a:cs typeface="+mn-lt"/>
              </a:rPr>
              <a:t>°F and angular</a:t>
            </a:r>
            <a:r>
              <a:rPr lang="en-US" sz="4000">
                <a:solidFill>
                  <a:schemeClr val="tx1"/>
                </a:solidFill>
                <a:cs typeface="Calibri"/>
              </a:rPr>
              <a:t> velocity increases as the water temperature increases.</a:t>
            </a:r>
            <a:endParaRPr lang="en-US">
              <a:solidFill>
                <a:schemeClr val="tx1"/>
              </a:solidFill>
              <a:cs typeface="Calibri"/>
            </a:endParaRPr>
          </a:p>
          <a:p>
            <a:pPr marL="428625" indent="-428625">
              <a:buFont typeface="Arial" panose="020B0604020202020204" pitchFamily="34" charset="0"/>
              <a:buChar char="•"/>
            </a:pPr>
            <a:r>
              <a:rPr lang="en-US" sz="4000">
                <a:solidFill>
                  <a:schemeClr val="tx1"/>
                </a:solidFill>
                <a:cs typeface="Calibri"/>
              </a:rPr>
              <a:t>Max temperature tested was 160</a:t>
            </a:r>
            <a:r>
              <a:rPr lang="en-US" sz="4000">
                <a:solidFill>
                  <a:schemeClr val="tx1"/>
                </a:solidFill>
                <a:ea typeface="+mn-lt"/>
                <a:cs typeface="+mn-lt"/>
              </a:rPr>
              <a:t>°F and max angular velocity was 0.5 rev/min. </a:t>
            </a:r>
            <a:endParaRPr lang="en-US">
              <a:solidFill>
                <a:schemeClr val="tx1"/>
              </a:solidFill>
              <a:cs typeface="Calibri" panose="020F0502020204030204"/>
            </a:endParaRPr>
          </a:p>
          <a:p>
            <a:pPr marL="571500" indent="-571500">
              <a:buFont typeface="Arial"/>
              <a:buChar char="•"/>
            </a:pPr>
            <a:r>
              <a:rPr lang="en-US" sz="4000">
                <a:solidFill>
                  <a:schemeClr val="tx1"/>
                </a:solidFill>
                <a:cs typeface="Calibri" panose="020F0502020204030204"/>
              </a:rPr>
              <a:t>Results show a wheel efficiency of less than 1%. </a:t>
            </a:r>
            <a:endParaRPr lang="en-US">
              <a:solidFill>
                <a:schemeClr val="tx1"/>
              </a:solidFill>
              <a:cs typeface="Calibri" panose="020F0502020204030204"/>
            </a:endParaRPr>
          </a:p>
          <a:p>
            <a:pPr marL="571500" indent="-571500">
              <a:buFont typeface="Arial"/>
              <a:buChar char="•"/>
            </a:pPr>
            <a:r>
              <a:rPr lang="en-US" sz="4000">
                <a:solidFill>
                  <a:schemeClr val="tx1"/>
                </a:solidFill>
                <a:cs typeface="Calibri" panose="020F0502020204030204"/>
              </a:rPr>
              <a:t>Need a liquid with a lower boiling point and a resistant force to increase efficiency.</a:t>
            </a:r>
            <a:endParaRPr lang="en-US">
              <a:solidFill>
                <a:schemeClr val="tx1"/>
              </a:solidFill>
              <a:cs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150313-EA2F-0339-067D-11C4671259F7}"/>
              </a:ext>
            </a:extLst>
          </p:cNvPr>
          <p:cNvSpPr txBox="1"/>
          <p:nvPr/>
        </p:nvSpPr>
        <p:spPr>
          <a:xfrm>
            <a:off x="686864" y="16131775"/>
            <a:ext cx="11497611" cy="257663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/>
              <a:t>Problems like global warming and climate change present an ever-growing need for clean energy.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>
                <a:cs typeface="Calibri"/>
              </a:rPr>
              <a:t>Construct the wheel out of easily accessible and affordable materials.</a:t>
            </a:r>
            <a:endParaRPr lang="en-US">
              <a:cs typeface="Calibri" panose="020F050202020403020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EB7AA1-91D2-20FD-7A61-28E0C853F63F}"/>
              </a:ext>
            </a:extLst>
          </p:cNvPr>
          <p:cNvSpPr txBox="1"/>
          <p:nvPr/>
        </p:nvSpPr>
        <p:spPr>
          <a:xfrm>
            <a:off x="724558" y="19431723"/>
            <a:ext cx="11478856" cy="56323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/>
              <a:t>Propane chosen for its low boiling point, affordability, and availability.</a:t>
            </a:r>
          </a:p>
          <a:p>
            <a:pPr marL="571500" indent="-571500">
              <a:buFont typeface="Arial,Sans-Serif" panose="020B0604020202020204" pitchFamily="34" charset="0"/>
              <a:buChar char="•"/>
            </a:pPr>
            <a:r>
              <a:rPr lang="en-US" sz="4000"/>
              <a:t>Propane tanks connected using hoses and adaptors.</a:t>
            </a:r>
            <a:endParaRPr lang="en-US" sz="4000">
              <a:cs typeface="Calibri"/>
            </a:endParaRPr>
          </a:p>
          <a:p>
            <a:pPr marL="571500" indent="-571500">
              <a:buFont typeface="Arial,Sans-Serif" panose="020B0604020202020204" pitchFamily="34" charset="0"/>
              <a:buChar char="•"/>
            </a:pPr>
            <a:r>
              <a:rPr lang="en-US" sz="4000"/>
              <a:t>Bike wheel with a rachet used as the wheel frame with propane pairs fastened.</a:t>
            </a:r>
            <a:endParaRPr lang="en-US" sz="4000">
              <a:cs typeface="Calibri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/>
              <a:t>Wooden bases and PVC hold assembly in place over the plastic hot water reservoir.</a:t>
            </a:r>
            <a:endParaRPr lang="en-US" sz="4000">
              <a:cs typeface="Calibri"/>
            </a:endParaRPr>
          </a:p>
          <a:p>
            <a:pPr marL="571500" indent="-571500">
              <a:buFont typeface="Arial,Sans-Serif" panose="020B0604020202020204" pitchFamily="34" charset="0"/>
              <a:buChar char="•"/>
            </a:pPr>
            <a:r>
              <a:rPr lang="en-US" sz="4000"/>
              <a:t>Hot water bath was filled, and a pump circulates water through solar collector heated by lamps.</a:t>
            </a:r>
            <a:endParaRPr lang="en-US" sz="4000">
              <a:cs typeface="Calibri" panose="020F0502020204030204"/>
            </a:endParaRPr>
          </a:p>
        </p:txBody>
      </p:sp>
      <p:pic>
        <p:nvPicPr>
          <p:cNvPr id="25" name="Picture 24" descr="A room with a lot of tools&#10;&#10;Description automatically generated">
            <a:extLst>
              <a:ext uri="{FF2B5EF4-FFF2-40B4-BE49-F238E27FC236}">
                <a16:creationId xmlns:a16="http://schemas.microsoft.com/office/drawing/2014/main" id="{1F7C0AD5-1E47-09C9-9D5C-94267BAA5E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5" t="2206" b="-109"/>
          <a:stretch/>
        </p:blipFill>
        <p:spPr>
          <a:xfrm rot="5400000">
            <a:off x="3226647" y="25303328"/>
            <a:ext cx="6365334" cy="609918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1A4B6F2-C00D-EC89-551F-801FFE45C0E4}"/>
              </a:ext>
            </a:extLst>
          </p:cNvPr>
          <p:cNvSpPr txBox="1"/>
          <p:nvPr/>
        </p:nvSpPr>
        <p:spPr>
          <a:xfrm>
            <a:off x="2853574" y="31525862"/>
            <a:ext cx="7118643" cy="6309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500"/>
              <a:t>Figure 2: Final Minto Wheel Assembly.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4A1F81A9-CA11-DDDF-3E40-7F3E04F116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626317"/>
              </p:ext>
            </p:extLst>
          </p:nvPr>
        </p:nvGraphicFramePr>
        <p:xfrm>
          <a:off x="12694816" y="10833070"/>
          <a:ext cx="13010097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36699">
                  <a:extLst>
                    <a:ext uri="{9D8B030D-6E8A-4147-A177-3AD203B41FA5}">
                      <a16:colId xmlns:a16="http://schemas.microsoft.com/office/drawing/2014/main" val="746254433"/>
                    </a:ext>
                  </a:extLst>
                </a:gridCol>
                <a:gridCol w="4336699">
                  <a:extLst>
                    <a:ext uri="{9D8B030D-6E8A-4147-A177-3AD203B41FA5}">
                      <a16:colId xmlns:a16="http://schemas.microsoft.com/office/drawing/2014/main" val="3465529841"/>
                    </a:ext>
                  </a:extLst>
                </a:gridCol>
                <a:gridCol w="4336699">
                  <a:extLst>
                    <a:ext uri="{9D8B030D-6E8A-4147-A177-3AD203B41FA5}">
                      <a16:colId xmlns:a16="http://schemas.microsoft.com/office/drawing/2014/main" val="575241806"/>
                    </a:ext>
                  </a:extLst>
                </a:gridCol>
              </a:tblGrid>
              <a:tr h="340284">
                <a:tc>
                  <a:txBody>
                    <a:bodyPr/>
                    <a:lstStyle/>
                    <a:p>
                      <a:pPr algn="ctr"/>
                      <a:r>
                        <a:rPr lang="en-US" sz="4000"/>
                        <a:t>Yield strength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/>
                        <a:t>Max Stress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/>
                        <a:t>Factor of Safety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0145153"/>
                  </a:ext>
                </a:extLst>
              </a:tr>
              <a:tr h="680568">
                <a:tc>
                  <a:txBody>
                    <a:bodyPr/>
                    <a:lstStyle/>
                    <a:p>
                      <a:pPr algn="ctr"/>
                      <a:r>
                        <a:rPr lang="en-US" sz="4000"/>
                        <a:t>90 </a:t>
                      </a:r>
                      <a:r>
                        <a:rPr lang="en-US" sz="4000" err="1"/>
                        <a:t>ksi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/>
                        <a:t>28 </a:t>
                      </a:r>
                      <a:r>
                        <a:rPr lang="en-US" sz="4000" err="1"/>
                        <a:t>ksi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/>
                        <a:t>3.21 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446087"/>
                  </a:ext>
                </a:extLst>
              </a:tr>
            </a:tbl>
          </a:graphicData>
        </a:graphic>
      </p:graphicFrame>
      <p:pic>
        <p:nvPicPr>
          <p:cNvPr id="41" name="Picture 40">
            <a:extLst>
              <a:ext uri="{FF2B5EF4-FFF2-40B4-BE49-F238E27FC236}">
                <a16:creationId xmlns:a16="http://schemas.microsoft.com/office/drawing/2014/main" id="{203E0838-725F-9F0D-7C5C-6FB5D47A19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459" t="11004" r="5612" b="372"/>
          <a:stretch/>
        </p:blipFill>
        <p:spPr>
          <a:xfrm>
            <a:off x="14893288" y="12353482"/>
            <a:ext cx="8626043" cy="6199968"/>
          </a:xfrm>
          <a:prstGeom prst="rect">
            <a:avLst/>
          </a:prstGeom>
        </p:spPr>
      </p:pic>
      <p:pic>
        <p:nvPicPr>
          <p:cNvPr id="13" name="Picture 12" descr="A graph of a change in weight vs time&#10;&#10;Description automatically generated">
            <a:extLst>
              <a:ext uri="{FF2B5EF4-FFF2-40B4-BE49-F238E27FC236}">
                <a16:creationId xmlns:a16="http://schemas.microsoft.com/office/drawing/2014/main" id="{A4352F85-5E7B-9EB5-0E7D-1434D7BDE87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50" r="261" b="627"/>
          <a:stretch/>
        </p:blipFill>
        <p:spPr>
          <a:xfrm>
            <a:off x="12797042" y="23820569"/>
            <a:ext cx="12815385" cy="7192252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950BF4B-F6F4-3345-D309-2C280B9F71ED}"/>
              </a:ext>
            </a:extLst>
          </p:cNvPr>
          <p:cNvSpPr txBox="1"/>
          <p:nvPr/>
        </p:nvSpPr>
        <p:spPr>
          <a:xfrm>
            <a:off x="12532655" y="10126090"/>
            <a:ext cx="13311077" cy="6309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500"/>
              <a:t>Table 1: Data calculating during the FEA simulation of the propane tanks.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D92C2A-CE81-D7D6-B898-0997C6E99E04}"/>
              </a:ext>
            </a:extLst>
          </p:cNvPr>
          <p:cNvSpPr txBox="1"/>
          <p:nvPr/>
        </p:nvSpPr>
        <p:spPr>
          <a:xfrm>
            <a:off x="13448932" y="18550770"/>
            <a:ext cx="11480776" cy="6309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500"/>
              <a:t>Figure 3: SolidWorks FEA simulation for sample propane tank. </a:t>
            </a:r>
            <a:endParaRPr lang="en-US" sz="3500">
              <a:ea typeface="Calibri"/>
              <a:cs typeface="Calibri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009DA50-3A45-D6F1-9BD2-0C26B25650D9}"/>
              </a:ext>
            </a:extLst>
          </p:cNvPr>
          <p:cNvSpPr txBox="1"/>
          <p:nvPr/>
        </p:nvSpPr>
        <p:spPr>
          <a:xfrm>
            <a:off x="13470530" y="31002168"/>
            <a:ext cx="11466851" cy="11695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500"/>
              <a:t>Figure 4: Graph depicting the gas transfer experiment once the propane tanks were connected to one another.</a:t>
            </a:r>
          </a:p>
        </p:txBody>
      </p:sp>
      <p:pic>
        <p:nvPicPr>
          <p:cNvPr id="38" name="Picture 37" descr="A black background with yellow letters&#10;&#10;Description automatically generated">
            <a:extLst>
              <a:ext uri="{FF2B5EF4-FFF2-40B4-BE49-F238E27FC236}">
                <a16:creationId xmlns:a16="http://schemas.microsoft.com/office/drawing/2014/main" id="{A0488BEC-9104-A588-AF91-326CC4E240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63809" y="-363697"/>
            <a:ext cx="9457940" cy="5668563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5822C4FD-860D-D9A6-576A-A5F077D2F903}"/>
              </a:ext>
            </a:extLst>
          </p:cNvPr>
          <p:cNvSpPr txBox="1"/>
          <p:nvPr/>
        </p:nvSpPr>
        <p:spPr>
          <a:xfrm>
            <a:off x="2764926" y="14646896"/>
            <a:ext cx="7405906" cy="6309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500"/>
              <a:t>Figure 1: The science behind the wheel.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BCD8F44-3448-063D-8A26-EC7262C127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971" y="8511519"/>
            <a:ext cx="8093715" cy="6035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9" descr="A gold metal object with a nut&#10;&#10;Description automatically generated">
            <a:extLst>
              <a:ext uri="{FF2B5EF4-FFF2-40B4-BE49-F238E27FC236}">
                <a16:creationId xmlns:a16="http://schemas.microsoft.com/office/drawing/2014/main" id="{F2829C5A-C755-0C5F-DA43-5F6AA52794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34507" y="17223995"/>
            <a:ext cx="4779267" cy="4505514"/>
          </a:xfrm>
          <a:prstGeom prst="rect">
            <a:avLst/>
          </a:prstGeom>
        </p:spPr>
      </p:pic>
      <p:pic>
        <p:nvPicPr>
          <p:cNvPr id="33" name="Picture 32" descr="A silver and black device with a wire and a thermometer&#10;&#10;Description automatically generated">
            <a:extLst>
              <a:ext uri="{FF2B5EF4-FFF2-40B4-BE49-F238E27FC236}">
                <a16:creationId xmlns:a16="http://schemas.microsoft.com/office/drawing/2014/main" id="{509AD18D-3DB5-C097-D5D2-9263A17599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171225" y="15902017"/>
            <a:ext cx="5718953" cy="5957617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3F107350-4A44-9538-6FB9-0307B8324EED}"/>
              </a:ext>
            </a:extLst>
          </p:cNvPr>
          <p:cNvSpPr txBox="1"/>
          <p:nvPr/>
        </p:nvSpPr>
        <p:spPr>
          <a:xfrm>
            <a:off x="26320749" y="21937213"/>
            <a:ext cx="5842000" cy="63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500">
                <a:ea typeface="Calibri"/>
                <a:cs typeface="Calibri"/>
              </a:rPr>
              <a:t>Figure 5: Immersion Heater.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043715B-F80B-8062-F5E0-312CB237E403}"/>
              </a:ext>
            </a:extLst>
          </p:cNvPr>
          <p:cNvSpPr txBox="1"/>
          <p:nvPr/>
        </p:nvSpPr>
        <p:spPr>
          <a:xfrm>
            <a:off x="32275252" y="21934458"/>
            <a:ext cx="6128348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500">
                <a:ea typeface="Calibri"/>
                <a:cs typeface="Calibri"/>
              </a:rPr>
              <a:t>Figure 6: Male to Female Throwaway Cylinder Connector.</a:t>
            </a:r>
          </a:p>
        </p:txBody>
      </p:sp>
    </p:spTree>
    <p:extLst>
      <p:ext uri="{BB962C8B-B14F-4D97-AF65-F5344CB8AC3E}">
        <p14:creationId xmlns:p14="http://schemas.microsoft.com/office/powerpoint/2010/main" val="4257867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BDC0A62B2BFC04ABD6A561924437781" ma:contentTypeVersion="17" ma:contentTypeDescription="Create a new document." ma:contentTypeScope="" ma:versionID="e586e9b71a6e9b26553e1713d1d29c2c">
  <xsd:schema xmlns:xsd="http://www.w3.org/2001/XMLSchema" xmlns:xs="http://www.w3.org/2001/XMLSchema" xmlns:p="http://schemas.microsoft.com/office/2006/metadata/properties" xmlns:ns3="60178708-1ebf-4f91-9b00-6f3c5122a498" xmlns:ns4="3c67e774-a428-4263-bb3f-e8bf1cff09eb" targetNamespace="http://schemas.microsoft.com/office/2006/metadata/properties" ma:root="true" ma:fieldsID="680595c26c40c9c40fd28eba18b37045" ns3:_="" ns4:_="">
    <xsd:import namespace="60178708-1ebf-4f91-9b00-6f3c5122a498"/>
    <xsd:import namespace="3c67e774-a428-4263-bb3f-e8bf1cff09e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178708-1ebf-4f91-9b00-6f3c5122a4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67e774-a428-4263-bb3f-e8bf1cff09eb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0178708-1ebf-4f91-9b00-6f3c5122a498" xsi:nil="true"/>
  </documentManagement>
</p:properties>
</file>

<file path=customXml/itemProps1.xml><?xml version="1.0" encoding="utf-8"?>
<ds:datastoreItem xmlns:ds="http://schemas.openxmlformats.org/officeDocument/2006/customXml" ds:itemID="{067F0E3A-68D5-42BE-9C40-755A39469A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F6C0A36-2758-4BC0-8FEF-D68E2BEFFED7}">
  <ds:schemaRefs>
    <ds:schemaRef ds:uri="3c67e774-a428-4263-bb3f-e8bf1cff09eb"/>
    <ds:schemaRef ds:uri="60178708-1ebf-4f91-9b00-6f3c5122a49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E08668F-8345-48D8-919E-CAD34AB023E9}">
  <ds:schemaRefs>
    <ds:schemaRef ds:uri="3c67e774-a428-4263-bb3f-e8bf1cff09eb"/>
    <ds:schemaRef ds:uri="60178708-1ebf-4f91-9b00-6f3c5122a49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580</Words>
  <Application>Microsoft Macintosh PowerPoint</Application>
  <PresentationFormat>Custom</PresentationFormat>
  <Paragraphs>74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Arial,Sans-Serif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Donovan Sweeney</dc:creator>
  <cp:lastModifiedBy>Bost, Megan N.</cp:lastModifiedBy>
  <cp:revision>3</cp:revision>
  <cp:lastPrinted>2017-07-28T14:45:17Z</cp:lastPrinted>
  <dcterms:created xsi:type="dcterms:W3CDTF">2016-07-06T17:48:34Z</dcterms:created>
  <dcterms:modified xsi:type="dcterms:W3CDTF">2024-05-08T14:49:42Z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0x010100EBDC0A62B2BFC04ABD6A561924437781</vt:lpwstr>
  </property>
</Properties>
</file>