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roxima Nova" panose="02000506030000020004" pitchFamily="2" charset="0"/>
      <p:regular r:id="rId26"/>
      <p:bold r:id="rId27"/>
      <p:italic r:id="rId28"/>
      <p:boldItalic r:id="rId29"/>
    </p:embeddedFont>
    <p:embeddedFont>
      <p:font typeface="Raleway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81C877-3EB6-49BD-AC16-6C8FBCF3CD20}">
  <a:tblStyle styleId="{A481C877-3EB6-49BD-AC16-6C8FBCF3CD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>
      <p:cViewPr varScale="1">
        <p:scale>
          <a:sx n="160" d="100"/>
          <a:sy n="160" d="100"/>
        </p:scale>
        <p:origin x="24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21e922b0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21e922b0f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6154123fd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6154123fd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6154123fd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6154123fd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6154123f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6154123f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6154123fd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6154123fd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21e922b0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a21e922b0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a21e922b0f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a21e922b0f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6154123fd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6154123fd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21e922b0f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21e922b0f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21e922b0f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21e922b0f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6154123fd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6154123fd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6154123fd_4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6154123fd_4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21e922b0f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21e922b0f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21e922b0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a21e922b0f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6154123fd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a6154123fd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6154123fd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6154123fd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6154123fd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a6154123fd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a21e922b0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a21e922b0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-6f5AwRkO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atista.com/statistics/280704/world-power-consumption/" TargetMode="External"/><Relationship Id="rId3" Type="http://schemas.openxmlformats.org/officeDocument/2006/relationships/hyperlink" Target="https://www.nspe.org/resources/ethics/code-ethics" TargetMode="External"/><Relationship Id="rId7" Type="http://schemas.openxmlformats.org/officeDocument/2006/relationships/hyperlink" Target="https://www.eia.gov/tools/faqs/faq.php?id=77&amp;amp;t=11#:~:text=How%20much%20of%20U.S.%20carbon,of%20about%204%2C964%20(MMmt)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otherearthnews.com/sustainable-living/nature-and-environment/solar-wheel-zmaz76jaztak/" TargetMode="External"/><Relationship Id="rId5" Type="http://schemas.openxmlformats.org/officeDocument/2006/relationships/hyperlink" Target="https://www.motherearthnews.com/sustainable-living/green-homes/solar-engine-zmaz76mazhar/" TargetMode="External"/><Relationship Id="rId4" Type="http://schemas.openxmlformats.org/officeDocument/2006/relationships/hyperlink" Target="https://en.wikipedia.org/wiki/Drinking_bi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587400" y="1227725"/>
            <a:ext cx="7969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Minto Wheel Design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7950" y="2340825"/>
            <a:ext cx="76881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By: Nate DeLong, Davis Clemmons, Megan Bost, and Grayson Bush</a:t>
            </a: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063" y="3577400"/>
            <a:ext cx="2969875" cy="13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765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727650" y="1872825"/>
            <a:ext cx="7688700" cy="3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need for clean energy is growing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 2022 the world consumed 25,530 terawatt-hours of electricity 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➢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Number increases every year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 the same year, 1,539 million metric tons of Carbon Dioxide were produced in the United States alone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Minto wheel is a heat engine that operates on a low temperature gradient and produces a massive amount of torque which can be converted to clean energy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7650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27650" y="1768600"/>
            <a:ext cx="7688700" cy="30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Consists of a base, sealed containers with low-boiling liquid, a heat source, and hoses connecting the containers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➢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Heat source is a warm-water bath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Half of the containers are filled with a low-boiling point liquid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Bottom containers heat when they dip into the warm-water reservoir and the liquid begins to vaporize causing vapor pressure upwards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Cooler containers condense the vapor and add weight, pulling the wheel forward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Produces torque or mechanical work that can be converted into energy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727663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Minto Wheel Process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5863" y="1853850"/>
            <a:ext cx="4132275" cy="30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729450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63100" y="1768600"/>
            <a:ext cx="8610300" cy="31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1881: the Iske brothers and Israel L. Landis patented 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thermodynamic engines that worked like the Minto wheel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1941: Karl Jauch patented a device called the “German Puja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Clock” that used a spinning wheel to act as the winding key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1945: Miles V. Sullivan patented the drinking bird which is a heat engine that works like an oscillating version of the Minto wheel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1976: Wallace Minto developed a wheel capitalizes off of mechanical and thermodynamic principles such as gravity and boiling points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1987: A derivation of Landis’s patent is the “Thermoscopic Balance '' that is a solar oscillating desk toy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l="17951" t="13472" r="16982"/>
          <a:stretch/>
        </p:blipFill>
        <p:spPr>
          <a:xfrm>
            <a:off x="7003775" y="806850"/>
            <a:ext cx="1969625" cy="22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72945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Wallace Minto &amp; His Wheel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325" y="1834900"/>
            <a:ext cx="4792950" cy="31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68210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Coursework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224025" y="1939100"/>
            <a:ext cx="4239600" cy="28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Thermodynamics</a:t>
            </a: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- used to determine necessary temperatures of the water basin and pressures inside the tanks. Saturated mixture at given pressure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Steam Tables</a:t>
            </a: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- Used typical pressure in tank and compared with steam table for propane to find boiling point. 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Use of SolidWorks simulation  </a:t>
            </a: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l="27218" t="20120" r="31258" b="7479"/>
          <a:stretch/>
        </p:blipFill>
        <p:spPr>
          <a:xfrm>
            <a:off x="4463625" y="463800"/>
            <a:ext cx="4680374" cy="467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72945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727650" y="191785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Structural integrity of the Tanks was tested using a simulation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Tank dimensions and material based on known values - Alloy Steel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Unknown value - top fillet radius - conservative estimate 0.175 in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Max pressure is governed by release valve - 200 psi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One quarter of the tank was tested as it is symmetric 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❖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FOS of 3 needed to pass based on pressure vessel standards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72945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SolidWorks Model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50" y="1778075"/>
            <a:ext cx="4807225" cy="32048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21"/>
          <p:cNvGraphicFramePr/>
          <p:nvPr/>
        </p:nvGraphicFramePr>
        <p:xfrm>
          <a:off x="5068275" y="2781175"/>
          <a:ext cx="3860475" cy="854960"/>
        </p:xfrm>
        <a:graphic>
          <a:graphicData uri="http://schemas.openxmlformats.org/drawingml/2006/table">
            <a:tbl>
              <a:tblPr>
                <a:noFill/>
                <a:tableStyleId>{A481C877-3EB6-49BD-AC16-6C8FBCF3CD20}</a:tableStyleId>
              </a:tblPr>
              <a:tblGrid>
                <a:gridCol w="128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Yield Strength of Alloy Steel</a:t>
                      </a:r>
                      <a:endParaRPr sz="12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 Stress found in Simulation</a:t>
                      </a:r>
                      <a:endParaRPr sz="12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FOS</a:t>
                      </a:r>
                      <a:endParaRPr sz="12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ksi</a:t>
                      </a:r>
                      <a:endParaRPr sz="12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 ksi</a:t>
                      </a:r>
                      <a:endParaRPr sz="12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3.21</a:t>
                      </a:r>
                      <a:endParaRPr sz="12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1752942" y="96761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Alternative Solutions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78770" y="1502816"/>
            <a:ext cx="5341800" cy="32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Alternatives Considered: 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Types of Liquid in tanks -Propane vs. R-134a vs. R-12 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➢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Cost Comparison: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■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Propane $0.44 per oz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■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R-134a $0.80 per oz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■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R-12 $4.40 per oz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Premade vs Constructed Tanks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➢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Cost, Convenience, and Safety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Size and Orientation of the wheel: Any smaller would effect wheel function, any larger would require larger tanks</a:t>
            </a:r>
            <a:endParaRPr sz="16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824" y="1627358"/>
            <a:ext cx="2997075" cy="16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823" y="3332959"/>
            <a:ext cx="2997075" cy="16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729450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&amp; Economic Evaluation - Fluid Type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729450" y="18704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❖"/>
            </a:pPr>
            <a:r>
              <a:rPr lang="en" sz="1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Cost Difference of Different Working Fluids</a:t>
            </a:r>
            <a:endParaRPr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Propane is the cheapest and most readily available working fluid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54" name="Google Shape;154;p23"/>
          <p:cNvGraphicFramePr/>
          <p:nvPr/>
        </p:nvGraphicFramePr>
        <p:xfrm>
          <a:off x="952500" y="2437025"/>
          <a:ext cx="7239000" cy="802640"/>
        </p:xfrm>
        <a:graphic>
          <a:graphicData uri="http://schemas.openxmlformats.org/drawingml/2006/table">
            <a:tbl>
              <a:tblPr>
                <a:noFill/>
                <a:tableStyleId>{A481C877-3EB6-49BD-AC16-6C8FBCF3CD20}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R-12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R-134a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Propane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$4.40 oz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$0.80 oz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$0.44 oz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739475" y="188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&amp; Economic Evaluation - Individual Parts Cost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0" name="Google Shape;160;p24"/>
          <p:cNvGraphicFramePr/>
          <p:nvPr/>
        </p:nvGraphicFramePr>
        <p:xfrm>
          <a:off x="4661225" y="20213"/>
          <a:ext cx="4386500" cy="5103080"/>
        </p:xfrm>
        <a:graphic>
          <a:graphicData uri="http://schemas.openxmlformats.org/drawingml/2006/table">
            <a:tbl>
              <a:tblPr>
                <a:noFill/>
                <a:tableStyleId>{A481C877-3EB6-49BD-AC16-6C8FBCF3CD20}</a:tableStyleId>
              </a:tblPr>
              <a:tblGrid>
                <a:gridCol w="109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Part Description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Cost Per Unit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Units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Total Part Cost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Full 16 oz propane   bottles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$5.75 per bottle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$22.99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 ft propane hose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$17.99 per hose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$71.96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Propane Tank Adapter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$10.00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$40.00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1” 2 ft schedule 40 pipe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$9.00 per pipe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$18.00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Metal Ratchet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$10.00 per ratchet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$10.00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Heavy Base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Free 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Water container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Free 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Solar Water heater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Free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Bike Wheel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$90.00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$90.00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Tank Clamps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$6.00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$48.00</a:t>
                      </a:r>
                      <a:endParaRPr sz="11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&amp; Economic Evaluation - Total Parts Cost</a:t>
            </a:r>
            <a:endParaRPr/>
          </a:p>
        </p:txBody>
      </p:sp>
      <p:graphicFrame>
        <p:nvGraphicFramePr>
          <p:cNvPr id="166" name="Google Shape;166;p25"/>
          <p:cNvGraphicFramePr/>
          <p:nvPr/>
        </p:nvGraphicFramePr>
        <p:xfrm>
          <a:off x="952500" y="2038150"/>
          <a:ext cx="7239000" cy="1203960"/>
        </p:xfrm>
        <a:graphic>
          <a:graphicData uri="http://schemas.openxmlformats.org/drawingml/2006/table">
            <a:tbl>
              <a:tblPr>
                <a:noFill/>
                <a:tableStyleId>{A481C877-3EB6-49BD-AC16-6C8FBCF3CD20}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Parts Total Cost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$323.96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Estimated Shipping + Tax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$150.00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Final Total Cost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$473.96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72945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Professional, Ethical, and Code Concerns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729450" y="1778075"/>
            <a:ext cx="7688700" cy="3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Serve the public interest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Sustainable development for future generations 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Maintain the highest standards of honesty and integrity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All communications will be truthful and transparent 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No altering of the data and acknowledgement of errors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Hold paramount the safety and health of the public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Propane tanks are class 1 division 2 pressure vessels 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Following the ASME Section VIII code of having a FOS of 3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Bleed off valve at 200 psi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Virginia fire code 6103.2.1.4: Propane can be used for research and experiments, but not in classrooms</a:t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➢"/>
            </a:pP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Want to avoid this: </a:t>
            </a:r>
            <a:r>
              <a:rPr lang="en" sz="15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https://www.youtube.com/watch?v=T-6f5AwRkOY</a:t>
            </a:r>
            <a:r>
              <a:rPr lang="en" sz="150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50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727650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Design Constraints</a:t>
            </a: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729450" y="1891325"/>
            <a:ext cx="70146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roxima Nova"/>
              <a:buChar char="❖"/>
            </a:pPr>
            <a:r>
              <a:rPr lang="en" sz="7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Cost- Meeting a $500 budget, while also trying to create the lowest cost wheel as possible. </a:t>
            </a:r>
            <a:endParaRPr sz="7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roxima Nova"/>
              <a:buChar char="❖"/>
            </a:pPr>
            <a:r>
              <a:rPr lang="en" sz="7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Time to Complete- Specific deadlines between two semesters kept the group on track to complete the project by May 13th, 2024</a:t>
            </a:r>
            <a:endParaRPr sz="7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roxima Nova"/>
              <a:buChar char="❖"/>
            </a:pPr>
            <a:r>
              <a:rPr lang="en" sz="7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Temperature Gradient- restricted by artificial light from lamps or the sun and the solar water heater. The wheel must be able to work across small temperature differences </a:t>
            </a:r>
            <a:endParaRPr sz="7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5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title"/>
          </p:nvPr>
        </p:nvSpPr>
        <p:spPr>
          <a:xfrm>
            <a:off x="729450" y="1223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Constraints</a:t>
            </a:r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727650" y="1759125"/>
            <a:ext cx="7688700" cy="31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Accessibility: could only use materials that were easily purchased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➢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R-12 can’t be purchased by individuals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Aesthetics: This project did not focus on the aesthetics of the wheel only functionality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Codes: NSPE Code of Ethics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Constructability: No welding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Cost: $500 budget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Extensibility: only designed a working wheel, not what to do with energy produced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Functionality: Wheel designed to produce mechanical work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❖"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Legal Considerations: give credit and citations where they are due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729450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Constraints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body" idx="1"/>
          </p:nvPr>
        </p:nvSpPr>
        <p:spPr>
          <a:xfrm>
            <a:off x="725850" y="1716351"/>
            <a:ext cx="7688700" cy="28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Maintainability: used bike wheel as frame for easy access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Manufacturability: hard without large factory to store all materials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Marketability: Easy to Market clean and effective energy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Schedule: complete by specified dates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Standards: see slide 12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Sustainability: wheel is permanently sustainable as long as water bath is hot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❖"/>
            </a:pPr>
            <a:r>
              <a:rPr lang="en" sz="15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Usability: Simple design, easy to use</a:t>
            </a:r>
            <a:endParaRPr sz="15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363500" y="12428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 l="7049" t="17610" r="12661" b="10889"/>
          <a:stretch/>
        </p:blipFill>
        <p:spPr>
          <a:xfrm>
            <a:off x="2987246" y="1286896"/>
            <a:ext cx="6078650" cy="32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363500" y="1847950"/>
            <a:ext cx="2576400" cy="29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Important Dates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February 12, 2024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Construction begins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March 18, 2024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Wheel prototype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April 22, 2024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Wheel is done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roxima Nova"/>
              <a:buChar char="❖"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May 13, 2024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Final Presentation</a:t>
            </a: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title"/>
          </p:nvPr>
        </p:nvSpPr>
        <p:spPr>
          <a:xfrm>
            <a:off x="727650" y="1233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1"/>
          </p:nvPr>
        </p:nvSpPr>
        <p:spPr>
          <a:xfrm>
            <a:off x="145250" y="1768600"/>
            <a:ext cx="8828400" cy="32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❖"/>
            </a:pPr>
            <a:r>
              <a:rPr lang="en" sz="11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Code of ethics. National Society of Professional Engineers. (2019). Retrieved November 27, 2023, from </a:t>
            </a:r>
            <a:r>
              <a:rPr lang="en" sz="11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https://www.nspe.org/resources/ethics/code-ethics</a:t>
            </a:r>
            <a:r>
              <a:rPr lang="en" sz="110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100" i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❖"/>
            </a:pPr>
            <a:r>
              <a:rPr lang="en" sz="1100" i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Drinking Bird</a:t>
            </a:r>
            <a:r>
              <a:rPr lang="en" sz="11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Wikipedia</a:t>
            </a:r>
            <a:r>
              <a:rPr lang="en" sz="1100" i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r>
              <a:rPr lang="en" sz="11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(2021, August 1). </a:t>
            </a:r>
            <a:r>
              <a:rPr lang="en" sz="11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https://en.wikipedia.org/wiki/Drinking_bird</a:t>
            </a:r>
            <a:endParaRPr sz="110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❖"/>
            </a:pPr>
            <a:r>
              <a:rPr lang="en" sz="1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Editors, M. E. N. (n.d.). Solar engine: Wallace Minto’s newest invention – mother earth news. Mother Earth News – The Original Guide To Living Wisely. </a:t>
            </a:r>
            <a:r>
              <a:rPr lang="en" sz="11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https://www.motherearthnews.com/sustainable-living/green-homes/solar-engine-zmaz76mazhar/</a:t>
            </a:r>
            <a:r>
              <a:rPr lang="en" sz="1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1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Editors, T. M. E. N. (1976, July 1). Mother puts Wally Minto’s solar wheel to the test – mother earth news. Mother Earth News – The Original Guide To Living Wisely. </a:t>
            </a:r>
            <a:r>
              <a:rPr lang="en" sz="11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https://www.motherearthnews.com/sustainable-living/nature-and-environment/solar-wheel-zmaz76jaztak/</a:t>
            </a:r>
            <a:r>
              <a:rPr lang="en" sz="110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10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❖"/>
            </a:pPr>
            <a:r>
              <a:rPr lang="en" sz="1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Frequently Asked Questions (FAQs) - U.S. Energy Information Administration (EIA). (2023, May, 1.) </a:t>
            </a:r>
            <a:r>
              <a:rPr lang="en" sz="11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https://www.eia.gov/tools/faqs/faq.php?id=77&amp;amp;t=11#:~:text=How%20much%20of%20U.S.%20carbon,of%20about%204%2C964%20(MMmt)</a:t>
            </a:r>
            <a:endParaRPr sz="11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❖"/>
            </a:pPr>
            <a:r>
              <a:rPr lang="en" sz="11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Published by Statista Research Department, &amp; 19, S. (2023, September 19). Global Electricity Consumption 2022. Statista. </a:t>
            </a:r>
            <a:r>
              <a:rPr lang="en" sz="1100" u="sng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https://www.statista.com/statistics/280704/world-power-consumption/</a:t>
            </a:r>
            <a:endParaRPr sz="110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Microsoft Macintosh PowerPoint</Application>
  <PresentationFormat>On-screen Show (16:9)</PresentationFormat>
  <Paragraphs>169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Times New Roman</vt:lpstr>
      <vt:lpstr>Lato</vt:lpstr>
      <vt:lpstr>Proxima Nova</vt:lpstr>
      <vt:lpstr>Raleway</vt:lpstr>
      <vt:lpstr>Arial</vt:lpstr>
      <vt:lpstr>Streamline</vt:lpstr>
      <vt:lpstr>Capstone Minto Wheel Design</vt:lpstr>
      <vt:lpstr>Introduction</vt:lpstr>
      <vt:lpstr>How Does It Work?</vt:lpstr>
      <vt:lpstr>The Minto Wheel Process</vt:lpstr>
      <vt:lpstr>Background</vt:lpstr>
      <vt:lpstr>Wallace Minto &amp; His Wheel</vt:lpstr>
      <vt:lpstr>Previous Coursework</vt:lpstr>
      <vt:lpstr>Design Process</vt:lpstr>
      <vt:lpstr>The SolidWorks Model</vt:lpstr>
      <vt:lpstr>Alternative Solutions</vt:lpstr>
      <vt:lpstr>Cost &amp; Economic Evaluation - Fluid Type</vt:lpstr>
      <vt:lpstr>Cost &amp; Economic Evaluation - Individual Parts Cost </vt:lpstr>
      <vt:lpstr>Cost &amp; Economic Evaluation - Total Parts Cost</vt:lpstr>
      <vt:lpstr>Professional, Ethical, and Code Concerns</vt:lpstr>
      <vt:lpstr>Major Design Constraints</vt:lpstr>
      <vt:lpstr>Summary of Constraints</vt:lpstr>
      <vt:lpstr>Summary of Constraints</vt:lpstr>
      <vt:lpstr>Schedule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Minto Wheel Design</dc:title>
  <cp:lastModifiedBy>Bost, Megan N.</cp:lastModifiedBy>
  <cp:revision>1</cp:revision>
  <dcterms:modified xsi:type="dcterms:W3CDTF">2023-12-13T17:41:43Z</dcterms:modified>
</cp:coreProperties>
</file>